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ource Sans 3" panose="020B0604020202020204" charset="0"/>
      <p:regular r:id="rId13"/>
    </p:embeddedFont>
    <p:embeddedFont>
      <p:font typeface="Source Sans 3 Bold" panose="020B0604020202020204" charset="0"/>
      <p:regular r:id="rId14"/>
    </p:embeddedFont>
    <p:embeddedFont>
      <p:font typeface="Source Serif 4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6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5693" y="2403177"/>
            <a:ext cx="582791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PhonePe Digital Payments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665693" y="3289002"/>
            <a:ext cx="582791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Analysing Transaction and Demographic Data across India — 2018 through Q2 2021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665693" y="4151709"/>
            <a:ext cx="2646098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5775109" y="4218629"/>
            <a:ext cx="301637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INTELLIGENCE CASE STUDY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3366" y="4151708"/>
            <a:ext cx="2332376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37574" y="4226520"/>
            <a:ext cx="270265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 DASHBOARD ANALYSIS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71CA01-A968-98E8-52E4-B669D971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106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3845"/>
            <a:ext cx="6223638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Macro Highlights at a Glance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69971" y="1183084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20.53B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69971" y="1744861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69971" y="1988840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Cumulative volume recorded nationally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69971" y="2399308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₹36T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269971" y="2961084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Gross Transaction Value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69971" y="3205063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₹35.87–₹36.30 Trillion circulating through the platform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69971" y="3615531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36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269971" y="4177308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States / UTs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69971" y="4421287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Spanning 731 active administrative districts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69971" y="4831755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₹14.9K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269971" y="5393531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Per User Value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69971" y="5637510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Cumulative transaction value per registered user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69971" y="5907484"/>
            <a:ext cx="622363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National Average Transaction Value (ATV) expanded from </a:t>
            </a:r>
            <a:r>
              <a:rPr lang="en-US" sz="10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₹1,502 in 2018</a:t>
            </a: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a peak of </a:t>
            </a:r>
            <a:r>
              <a:rPr lang="en-US" sz="10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₹1,836 in 2020</a:t>
            </a: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stabilising around </a:t>
            </a:r>
            <a:r>
              <a:rPr lang="en-US" sz="10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₹1,802 in 2021</a:t>
            </a: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 retail micro-payments gained momentum.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4065"/>
            <a:ext cx="10795524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5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Overview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54882"/>
            <a:ext cx="6897317" cy="390852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3850" y="1285280"/>
            <a:ext cx="3556010" cy="10053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79290" y="1444526"/>
            <a:ext cx="316132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State_Txn &amp; Users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8179290" y="1749227"/>
            <a:ext cx="316132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State-level transactions, amounts, registered users, and app opens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3850" y="2389187"/>
            <a:ext cx="3556010" cy="10053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79290" y="2548434"/>
            <a:ext cx="316132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State_TxnSplit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8179290" y="2853134"/>
            <a:ext cx="316132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Breakdown by transaction type — P2P, Merchant, Recharge &amp; Utilities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3850" y="3493095"/>
            <a:ext cx="3556010" cy="8142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79290" y="3652341"/>
            <a:ext cx="316132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State_DeviceData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8179290" y="3957042"/>
            <a:ext cx="316132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Device brand distribution and user percentages per state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3850" y="4405908"/>
            <a:ext cx="3556010" cy="8142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79290" y="4565154"/>
            <a:ext cx="316132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District_Txn &amp; Users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8179290" y="4869855"/>
            <a:ext cx="316132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Granular district-level transaction and user metrics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3850" y="5318720"/>
            <a:ext cx="3556010" cy="8142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179290" y="5477966"/>
            <a:ext cx="3161328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District Demographics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8179290" y="5782667"/>
            <a:ext cx="316132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Population, area, density, and district headquarters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Integrity &amp; Consistency Audit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98373" y="1589105"/>
            <a:ext cx="5276123" cy="37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000000"/>
                </a:solidFill>
                <a:ea typeface="Source Serif 4 SemiBold" pitchFamily="34" charset="-122"/>
                <a:cs typeface="Source Serif 4 SemiBold" pitchFamily="34" charset="-120"/>
              </a:rPr>
              <a:t>Validation </a:t>
            </a:r>
            <a:r>
              <a:rPr lang="en-US" sz="1400" kern="0" spc="-18" dirty="0">
                <a:solidFill>
                  <a:srgbClr val="000000"/>
                </a:solidFill>
                <a:ea typeface="SimSun" panose="02010600030101010101" pitchFamily="2" charset="-122"/>
                <a:cs typeface="Source Serif 4 SemiBold" pitchFamily="34" charset="-120"/>
              </a:rPr>
              <a:t>Methodology</a:t>
            </a:r>
            <a:endParaRPr lang="en-US" sz="1400" dirty="0">
              <a:ea typeface="SimSun" panose="0201060003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8372" y="2075041"/>
            <a:ext cx="5276123" cy="506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-16" dirty="0">
                <a:solidFill>
                  <a:srgbClr val="272525"/>
                </a:solidFill>
                <a:ea typeface="Source Sans 3" pitchFamily="34" charset="-122"/>
                <a:cs typeface="Source Sans 3" pitchFamily="34" charset="-120"/>
              </a:rPr>
              <a:t>District-level metrics (Transactions, Amount, Registered Users) were aggregated to state level and reconciled against State_Txn and Users records.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8371" y="2533086"/>
            <a:ext cx="5276123" cy="577667"/>
          </a:xfrm>
          <a:prstGeom prst="roundRect">
            <a:avLst>
              <a:gd name="adj" fmla="val 11058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82" y="3146999"/>
            <a:ext cx="124616" cy="997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8086" y="2634819"/>
            <a:ext cx="4852370" cy="405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-16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99.9% consistency</a:t>
            </a:r>
            <a:r>
              <a:rPr lang="en-US" sz="1050" kern="0" spc="-16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achieved across all states. One variance in Andhra Pradesh (Total Amount) was resolved using weighted DAX measures and District Code mappings.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98086" y="3420472"/>
            <a:ext cx="5276123" cy="506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Telemetry Note:</a:t>
            </a:r>
            <a:r>
              <a:rPr lang="en-US" sz="10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App Opens show 0 from Q1-2018 to Q2-2019 — user session telemetry was formally integrated into the PhonePe repository starting Q3-2019.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836" y="974824"/>
            <a:ext cx="5276123" cy="5276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72902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Payment Channel Dynamics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1558727"/>
            <a:ext cx="3012107" cy="2101255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75746" y="1764506"/>
            <a:ext cx="26005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Peer-to-Peer (P2P)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75746" y="2177455"/>
            <a:ext cx="260055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44.62%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volume (9B txns) and </a:t>
            </a: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 84%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total monetary value — backbone for high-value family transfers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1558727"/>
            <a:ext cx="3012107" cy="2101255"/>
          </a:xfrm>
          <a:prstGeom prst="roundRect">
            <a:avLst>
              <a:gd name="adj" fmla="val 3987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7277" y="1764506"/>
            <a:ext cx="26005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Merchant Payments (QR)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7277" y="2470745"/>
            <a:ext cx="260055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33.89%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volume (7B txns) — widespread offline QR code penetration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3859411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75746" y="4065191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Recharge &amp; Utilities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75746" y="4478139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20.68%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volume (4B txns) — declined from ~50% of traffic in 2018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269971" y="5227439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2021, P2P and Merchant payments commanded </a:t>
            </a:r>
            <a:r>
              <a:rPr lang="en-US" sz="1550" b="1" kern="0" spc="-3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 80% of total system volume</a:t>
            </a: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ecosystem transitioned into an everyday lifestyle payment utility.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Regional Market Concentration &amp; User Adoption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2041" y="1187269"/>
            <a:ext cx="5276123" cy="38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8" dirty="0">
                <a:solidFill>
                  <a:srgbClr val="000000"/>
                </a:solidFill>
                <a:ea typeface="Source Serif 4 SemiBold" pitchFamily="34" charset="-122"/>
                <a:cs typeface="Source Serif 4 SemiBold" pitchFamily="34" charset="-120"/>
              </a:rPr>
              <a:t>Top Volume States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2040" y="1486415"/>
            <a:ext cx="5276123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Karnataka, Maharashtra, Telangana, Andhra Pradesh, and Rajasthan collectively account for </a:t>
            </a:r>
            <a:r>
              <a:rPr lang="en-US" sz="105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 50%</a:t>
            </a:r>
            <a:r>
              <a:rPr lang="en-US" sz="10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India's digital payment throughput. Activity is heavily concentrated in Southern and Western India.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92039" y="2188350"/>
            <a:ext cx="5276123" cy="381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 Digital Density Hubs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2038" y="2522149"/>
            <a:ext cx="5276123" cy="839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0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Delhi — 67% user-to-population ratio</a:t>
            </a:r>
            <a:endParaRPr lang="en-US" sz="10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0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Dadra &amp; Nagar Haveli — 59%</a:t>
            </a:r>
            <a:endParaRPr lang="en-US" sz="10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0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Telangana — 50%</a:t>
            </a:r>
            <a:endParaRPr lang="en-US" sz="10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0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Chandigarh — 43%, Karnataka — 42%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2037" y="3486966"/>
            <a:ext cx="5276123" cy="379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000000"/>
                </a:solidFill>
                <a:ea typeface="Source Serif 4 SemiBold" pitchFamily="34" charset="-122"/>
                <a:cs typeface="Source Serif 4 SemiBold" pitchFamily="34" charset="-120"/>
              </a:rPr>
              <a:t>High-Upside Expansion Markets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086" y="3854372"/>
            <a:ext cx="5270077" cy="357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Uttar Pradesh, Bihar, and West Bengal remain under-penetrated (&lt;30% user ratio) — the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 frontier for user acquisition.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36" y="974824"/>
            <a:ext cx="5276123" cy="5276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2066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kern="0" spc="-6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District-Level Insights: Revenue &amp; Ticket-Size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98086" y="1457920"/>
            <a:ext cx="352148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Revenue Centres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98086" y="1827907"/>
            <a:ext cx="3521483" cy="159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b="1" kern="0" spc="-2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Bengaluru Urban</a:t>
            </a: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₹2.57 Trillion (national leader)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Hyderabad — ₹1.90T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Pune — ₹1.42T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Jaipur — ₹1.20T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Rangareddy — ₹0.58T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8086" y="3554016"/>
            <a:ext cx="352148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Highest ATV Districts (Outlier Analysis)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8086" y="3924002"/>
            <a:ext cx="413106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Remote and frontier regions lead in average ticket size: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8086" y="4277519"/>
            <a:ext cx="3521483" cy="98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 Yomi (Arunachal Pradesh) &amp; Saiha (Mizoram) — </a:t>
            </a:r>
            <a:r>
              <a:rPr lang="en-US" sz="1250" b="1" kern="0" spc="-2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₹4,500–₹5,000+</a:t>
            </a: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transaction</a:t>
            </a:r>
            <a:endParaRPr lang="en-US" sz="1250" dirty="0"/>
          </a:p>
          <a:p>
            <a:pPr marL="254000" indent="-254000" algn="l">
              <a:lnSpc>
                <a:spcPct val="121000"/>
              </a:lnSpc>
              <a:buSzPct val="100000"/>
              <a:buChar char="•"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Nicobar, Leh Ladakh, Kargil, East Kameng — averaging </a:t>
            </a:r>
            <a:r>
              <a:rPr lang="en-US" sz="1250" b="1" kern="0" spc="-2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₹3,200–₹4,000+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8086" y="5382220"/>
            <a:ext cx="3521483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regions use digital infrastructure for essential bank remittances and household transfers rather than retail micro-payments.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196" y="1816993"/>
            <a:ext cx="6878664" cy="3898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3845"/>
            <a:ext cx="6223638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Hardware OEM Ecosystem Dominance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69971" y="1183084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616M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269971" y="1744861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Xiaomi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69971" y="1988840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Unchallenged #1 — leads 35 of 36 states/UTs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269971" y="2399308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481M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269971" y="2961084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Samsung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69971" y="3205063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Second tier; leads only in Sikkim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69971" y="3615531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411M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269971" y="4177308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Vivo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69971" y="4421287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Third in cumulative user instances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69971" y="4831755"/>
            <a:ext cx="6223638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kern="0" spc="-6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284M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269971" y="5393531"/>
            <a:ext cx="6223638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Oppo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69971" y="5637510"/>
            <a:ext cx="62236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Fourth in the adoption hierarchy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69971" y="5907484"/>
            <a:ext cx="622363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Budget and mid-range Android devices drive </a:t>
            </a:r>
            <a:r>
              <a:rPr lang="en-US" sz="10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 85%</a:t>
            </a:r>
            <a:r>
              <a:rPr lang="en-US" sz="10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PhonePe's installed base. Xiaomi's dominance underscores the importance of value-tier smartphone partnerships for user acquisition.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6482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kern="0" spc="-69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Temporal Trends &amp; Inflection Points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892498"/>
            <a:ext cx="6857332" cy="38859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7964" y="1574701"/>
            <a:ext cx="3481896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COVID-19 Inflection Surge (Q2-2020)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17964" y="2300089"/>
            <a:ext cx="3481896" cy="144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Following national pandemic restrictions, quarterly transactions and app opens experienced an </a:t>
            </a:r>
            <a:r>
              <a:rPr lang="en-US" sz="1450" b="1" kern="0" spc="-29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exponential trajectory</a:t>
            </a: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In Maharashtra, quarterly app opens accelerated to </a:t>
            </a:r>
            <a:r>
              <a:rPr lang="en-US" sz="1450" b="1" kern="0" spc="-29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1.21 Billion by Q2-2021</a:t>
            </a: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17964" y="3924498"/>
            <a:ext cx="348189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3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Maturation of Platform Trust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17964" y="4374852"/>
            <a:ext cx="3481896" cy="173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National ATV expanded from </a:t>
            </a:r>
            <a:r>
              <a:rPr lang="en-US" sz="1450" b="1" kern="0" spc="-29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₹1,502 (2018)</a:t>
            </a: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</a:t>
            </a:r>
            <a:r>
              <a:rPr lang="en-US" sz="1450" b="1" kern="0" spc="-29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₹1,836 (2020)</a:t>
            </a: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reflecting rising consumer trust as users moved beyond small promotional recharges to </a:t>
            </a:r>
            <a:r>
              <a:rPr lang="en-US" sz="1450" b="1" kern="0" spc="-29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high-value transfers, mutual fund investments, and gold purchases</a:t>
            </a:r>
            <a:r>
              <a:rPr lang="en-US" sz="1450" kern="0" spc="-29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6227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Strategic Recommendations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27770"/>
            <a:ext cx="5307177" cy="22714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9051" y="1656854"/>
            <a:ext cx="285148" cy="356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kern="0" spc="-4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3583" y="2304653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High-ATV Financial Products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13583" y="2692797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domestic remittances, fixed savings, and insurance bundles in districts like Shi Yomi, Saiha, and Kargil where ticket sizes exceed ₹3,500–₹5,000+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432" y="1527770"/>
            <a:ext cx="5307177" cy="22714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97397" y="1656854"/>
            <a:ext cx="285148" cy="356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kern="0" spc="-4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1930" y="2304653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Merchant Ecosystem Monetisation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401930" y="2692797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Accelerate Smart Speaker soundbox rentals, POS financing, and working capital micro-loans — QR codes already drive 33.89% of all transactions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980359"/>
            <a:ext cx="5307177" cy="22714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09051" y="4109442"/>
            <a:ext cx="285148" cy="356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kern="0" spc="-4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13583" y="4757241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Regional Expansion Campaigns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13583" y="5145385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Launch localised vernacular onboarding in Uttar Pradesh, Bihar, and West Bengal to convert high population into active transaction volume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432" y="3980359"/>
            <a:ext cx="5307177" cy="22714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97397" y="4109442"/>
            <a:ext cx="285148" cy="356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kern="0" spc="-4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1930" y="4757241"/>
            <a:ext cx="4876182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OEM Strategic Partnerships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401930" y="5145385"/>
            <a:ext cx="4876182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Deepen pre-installation and app optimisation tie-ups with Xiaomi and BBK Electronics (Vivo/Oppo/Realme) to secure the primary mobile gateway for new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831</Words>
  <Application>Microsoft Office PowerPoint</Application>
  <PresentationFormat>Widescreen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Source Sans 3 Bold</vt:lpstr>
      <vt:lpstr>Arial</vt:lpstr>
      <vt:lpstr>Source Serif 4 SemiBold</vt:lpstr>
      <vt:lpstr>Source Sans 3</vt:lpstr>
      <vt:lpstr>SimSun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mohammad abutalib</cp:lastModifiedBy>
  <cp:revision>3</cp:revision>
  <dcterms:created xsi:type="dcterms:W3CDTF">2026-09-03T17:58:57Z</dcterms:created>
  <dcterms:modified xsi:type="dcterms:W3CDTF">2026-09-03T18:22:26Z</dcterms:modified>
</cp:coreProperties>
</file>